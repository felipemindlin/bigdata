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3840480" cy="384048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1334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1283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72.80  ·  ITBA  ·  1ER CUATRIMESTRE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Provider Analytics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+ Streaming + Serving en Cassandra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370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7548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Jeremias Feferovich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Mindlin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Zahnd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46320" y="47548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Florencia Carrica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Gianfranco Magliotti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NEGOCIO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equipo de datos de un proveedor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necesidades en paralelo: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 para métricas operativas de uso y costo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diario/mensual para maestros (CRM) y facturación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llegan crudos: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Nulos, tipos ambiguos, anomalías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esquema a mitad del histórico (schema_version 1 → 2: carbon_kg, genai_tokens)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73736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86600" y="1993392"/>
            <a:ext cx="713232" cy="713232"/>
          </a:xfrm>
          <a:prstGeom prst="ellipse">
            <a:avLst/>
          </a:prstGeom>
          <a:solidFill>
            <a:srgbClr val="E7F1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2040" y="217883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0" y="1901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955280" y="23042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y consumo por org/servicio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0" y="315468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86600" y="3410712"/>
            <a:ext cx="713232" cy="713232"/>
          </a:xfrm>
          <a:prstGeom prst="ellipse">
            <a:avLst/>
          </a:prstGeom>
          <a:solidFill>
            <a:srgbClr val="E7F1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040" y="359615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55280" y="3319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Soporte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955280" y="37216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SLA y satisfacción (CSAT)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0" y="45720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4828032"/>
            <a:ext cx="713232" cy="713232"/>
          </a:xfrm>
          <a:prstGeom prst="ellipse">
            <a:avLst/>
          </a:prstGeom>
          <a:solidFill>
            <a:srgbClr val="E7F1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040" y="50134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55280" y="4736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7955280" y="5138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servicios y adopción GenAI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858000" y="6035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pipeline confiable que habilite analítica para las tres áreas.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Patrón Lambda + Data Lake por zonas + Cassandra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2459736" cy="1828800"/>
          </a:xfrm>
          <a:prstGeom prst="roundRect">
            <a:avLst>
              <a:gd name="adj" fmla="val 4500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514600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inmutable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36976" y="3081528"/>
            <a:ext cx="256032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3493008" y="2194560"/>
            <a:ext cx="2459736" cy="1828800"/>
          </a:xfrm>
          <a:prstGeom prst="roundRect">
            <a:avLst>
              <a:gd name="adj" fmla="val 45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2514600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84448" y="306324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+ ingest_ts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52744" y="3081528"/>
            <a:ext cx="256032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08776" y="2194560"/>
            <a:ext cx="2459736" cy="1828800"/>
          </a:xfrm>
          <a:prstGeom prst="roundRect">
            <a:avLst>
              <a:gd name="adj" fmla="val 45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208776" y="2514600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0216" y="306324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+ joins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68512" y="3081528"/>
            <a:ext cx="256032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8924544" y="2194560"/>
            <a:ext cx="2459736" cy="1828800"/>
          </a:xfrm>
          <a:prstGeom prst="roundRect">
            <a:avLst>
              <a:gd name="adj" fmla="val 45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924544" y="2514600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15984" y="306324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marts negocio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1527048"/>
            <a:ext cx="2459736" cy="502920"/>
          </a:xfrm>
          <a:prstGeom prst="roundRect">
            <a:avLst>
              <a:gd name="adj" fmla="val 12727"/>
            </a:avLst>
          </a:prstGeom>
          <a:solidFill>
            <a:srgbClr val="E7F1F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1527048"/>
            <a:ext cx="2459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7 CSV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007108" y="202996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108960" y="4526280"/>
            <a:ext cx="6035040" cy="960120"/>
          </a:xfrm>
          <a:prstGeom prst="roundRect">
            <a:avLst>
              <a:gd name="adj" fmla="val 8571"/>
            </a:avLst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0" y="46725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Serving: Cassandra — keyspace cloud_analytics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108960" y="50383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tablas query-first  ·  2 con colecciones map&lt;&gt;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154412" y="4023360"/>
            <a:ext cx="0" cy="24688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4270248"/>
            <a:ext cx="40279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4270248"/>
            <a:ext cx="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para maestros/facturación + streaming (Structured Streaming) para eventos de uso, convergiendo en Gold.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Y RECURSOS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técnico y costo de ejecución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E7F1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8476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190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3.5.1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0299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 + batch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E7F1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0772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42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28529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intermedio particionado, gestionado por Spark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566928" cy="566928"/>
          </a:xfrm>
          <a:prstGeom prst="ellipse">
            <a:avLst/>
          </a:prstGeom>
          <a:solidFill>
            <a:srgbClr val="E7F1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53068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3649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4.1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36758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Docker local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206240"/>
            <a:ext cx="566928" cy="566928"/>
          </a:xfrm>
          <a:prstGeom prst="ellipse">
            <a:avLst/>
          </a:prstGeom>
          <a:solidFill>
            <a:srgbClr val="E7F1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353641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1879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driver + spark-cassandra-connector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25880" y="44988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Gold a Cassandra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029200"/>
            <a:ext cx="566928" cy="566928"/>
          </a:xfrm>
          <a:prstGeom prst="ellipse">
            <a:avLst/>
          </a:prstGeom>
          <a:solidFill>
            <a:srgbClr val="E7F1F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5176601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0109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(JDK)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25880" y="53218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 Spark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315200" y="1737360"/>
            <a:ext cx="4297680" cy="3566160"/>
          </a:xfrm>
          <a:prstGeom prst="roundRect">
            <a:avLst>
              <a:gd name="adj" fmla="val 2564"/>
            </a:avLst>
          </a:prstGeom>
          <a:solidFill>
            <a:srgbClr val="0B2545"/>
          </a:solidFill>
          <a:ln/>
        </p:spPr>
      </p:sp>
      <p:sp>
        <p:nvSpPr>
          <p:cNvPr id="25" name="Text 18"/>
          <p:cNvSpPr/>
          <p:nvPr/>
        </p:nvSpPr>
        <p:spPr>
          <a:xfrm>
            <a:off x="7315200" y="2148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315200" y="24231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400" dirty="0"/>
          </a:p>
        </p:txBody>
      </p:sp>
      <p:sp>
        <p:nvSpPr>
          <p:cNvPr id="27" name="Text 20"/>
          <p:cNvSpPr/>
          <p:nvPr/>
        </p:nvSpPr>
        <p:spPr>
          <a:xfrm>
            <a:off x="7315200" y="3794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ejecución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7772400" y="4297680"/>
            <a:ext cx="33832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680960" y="44805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local (Spark local + Docker), sin Colab ni AstraDB cloud para esta entrega.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PROVISTOS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fuentes batch + stream, y las 5Vs del Big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CSV (batch) + usage_events_stream/*.jsonl (schema v1/v2, formato EAV: metric + value + unit)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374904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 en el proyecto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43.200 eventos + 7 maestros; Parquet particionado por fecha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Streaming en micro-lotes, watermark de 1h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Variedad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CSV + JSONL multi-schema (v1/v2) en formato EAV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Veracidad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calidad por path, 4 zonas de quarantine, dedup idempotente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marts (FinOps, Soporte, Producto) servidos query-first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— BRONZE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y streaming con trazabilidad desde el día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66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E7F1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2000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526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maestros → Bronze Parquet particionado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explícito (StructType)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técnicas: ingest_ts, source_file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dropDuplicates por clave natural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por ingest_date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80760" y="1737360"/>
            <a:ext cx="5166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057400"/>
            <a:ext cx="548640" cy="548640"/>
          </a:xfrm>
          <a:prstGeom prst="ellipse">
            <a:avLst/>
          </a:prstGeom>
          <a:solidFill>
            <a:srgbClr val="E7F1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22000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00800" y="2788920"/>
            <a:ext cx="4526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usage_events_stream/*.jsonl, trigger availableNow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withWatermark(event_ts, 1 hora)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Late/malformed → quarantine (late_data)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habilitado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por ingest_date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CONFORMACIÓN — SILVER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eventos crudos a datos analíticamente confiables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7F1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43.200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ingeridos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14884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63240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7F1F5"/>
          </a:solidFill>
          <a:ln/>
        </p:spPr>
      </p:sp>
      <p:sp>
        <p:nvSpPr>
          <p:cNvPr id="9" name="Text 6"/>
          <p:cNvSpPr/>
          <p:nvPr/>
        </p:nvSpPr>
        <p:spPr>
          <a:xfrm>
            <a:off x="306324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40.956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06324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válidos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14884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577840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CEFD9"/>
          </a:solidFill>
          <a:ln/>
        </p:spPr>
      </p:sp>
      <p:sp>
        <p:nvSpPr>
          <p:cNvPr id="13" name="Text 9"/>
          <p:cNvSpPr/>
          <p:nvPr/>
        </p:nvSpPr>
        <p:spPr>
          <a:xfrm>
            <a:off x="557784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2.244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557784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quarantine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EAV: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metric+value+unit → columnas (requests, cpu_hours, storage_gb_hours)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3611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Compatibilización v1/v2: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carbon_kg / genai_tokens con coalesce a 0 en eventos v1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Enriquecimiento: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con orgs y resources (industry, plan_tier, hq_region, resource_state)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Anomalías de costo: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percentil, cost_usd_increment &gt; p99 × 2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 USD: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exchange_rate_to_usd provisto por factura (no tabla FX estática)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zonas de quarantine: silver_quality, tickets_quality, billing_quality, late_data — con muestras documentadas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DE NEGOCIO — GOLD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tablas query-first en el keyspace cloud_analytics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56616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1554480"/>
                <a:gridCol w="26517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Grano (PK)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org_daily_usage_by_service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(org_id, service), usage_date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org_top_services_14d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(org_id, as_of_date), cost_14d_usd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revenue_by_org_month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(org_id), month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revenue_breakdown map&lt;&gt;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tickets_by_org_date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(org_id), ticket_date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counts_by_severity map&lt;&gt;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genai_tokens_by_org_date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(org_id), usage_date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Producto/GenAI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 con valor analítico real (desglose por categoría en una sola fila), no decorativas — modelo por consulta: sin full-scans.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consultas mínimas sobre Cassandra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11096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y requests diarios por org y servicio en un rango de fechas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761488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2633472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servicios por costo acumulado en los últimos 14 días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61188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483864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tickets críticos y tasa de SLA breach por día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446227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334256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mensual con créditos/impuestos, normalizado a USD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184648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312664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518464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GenAI y costo estimado por día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CQL y resultados documentados en cassandra_query_results.md — se ejecutan en vivo sobre el keyspace cloud_analytics.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 Y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Re-correr el pipeline no duplica datos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Mecanismos: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en streaming (availableNow)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por event_id en Silver (batch)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en modo overwrite por dataset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por clave primaria natural en Cassandra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Particionado por fecha en Bronze/Silver/Gold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coalesce(1) en marts chicos (revenue/tickets/genai)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maxFilesPerTrigger=10 para simular micro-lotes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303520" cy="310896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28016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Cassandra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org_daily_usage_by_service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org_top_services_14d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revenue_by_org_month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tickets_by_org_date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genai_tokens_by_org_date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4983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0 en las 5 tablas: la re-ejecución es idempotente end-to-end.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Y TRADE-OFFS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elegimos cada camino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48056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sobre Kappa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Maestros/facturación son naturalmente batch; forzarlos a stream no aporta 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 en Silver, no en streaming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~2 meses de datos desordenados, dropDuplicates con estado perdía eventos válidos por eviccion de watermark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 EAV (metric+value+unit)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eventos llegan en formato largo; se derivan columnas anchas por servicio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Anomalías por percentil (p99×2)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Robusto ante colas pesadas, simple de justificar frente a z-score/MAD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por factura, no tabla estática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exchange_rate_to_usd viene en el propio dato: más fiel, sin asunciones externas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 local (Docker) en vez de Colab/AstraDB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100% reproducible con scripts locales para esta entrega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4572000" cy="457200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840480"/>
            <a:ext cx="4114800" cy="411480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85800" cy="685800"/>
          </a:xfrm>
          <a:prstGeom prst="ellipse">
            <a:avLst/>
          </a:prstGeom>
          <a:solidFill>
            <a:srgbClr val="1334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8183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685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entregado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FinOps: costos y anomalías por org/servicio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Soporte: tickets críticos y SLA breach por día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adopción y costo de GenAI por org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(producción)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09360" y="210312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real en vez de archivos JSONL simulando micro-lotes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AstraDB cloud en vez de Cassandra local (Docker)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conectado directo sobre Cassandra (Superset/Grafana)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109728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389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— Big Data 72.80, ITBA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Analytics  |  Big Data 72.80  |  ITBA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Provider Analytics</dc:title>
  <dc:subject>PptxGenJS Presentation</dc:subject>
  <dc:creator>Jeremias Feferovich, Felipe Mindlin, Martin Zahnd, Florencia Carrica, Gianfranco Magliotti</dc:creator>
  <cp:lastModifiedBy>Jeremias Feferovich, Felipe Mindlin, Martin Zahnd, Florencia Carrica, Gianfranco Magliotti</cp:lastModifiedBy>
  <cp:revision>1</cp:revision>
  <dcterms:created xsi:type="dcterms:W3CDTF">2026-07-05T23:50:38Z</dcterms:created>
  <dcterms:modified xsi:type="dcterms:W3CDTF">2026-07-05T23:50:38Z</dcterms:modified>
</cp:coreProperties>
</file>